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E94560"/>
                </a:solidFill>
                <a:latin typeface="Helvetica"/>
              </a:defRPr>
            </a:pPr>
            <a:r>
              <a:t>BLUESTOCK FINTECH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60152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Helvetica"/>
              </a:defRPr>
            </a:pPr>
            <a:r>
              <a:t>Mutual Fund Analytics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60152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0">
                <a:solidFill>
                  <a:srgbClr val="A8A8B3"/>
                </a:solidFill>
                <a:latin typeface="Helvetica"/>
              </a:defRPr>
            </a:pPr>
            <a:r>
              <a:t>End-to-End Data Engineering, ETL Pipeline &amp; Interactive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45720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Helvetica"/>
              </a:defRPr>
            </a:pPr>
            <a:r>
              <a:t>Prepared by: Adib Shaikh</a:t>
            </a:r>
            <a:br/>
            <a:r>
              <a:t>Role: Data Analyst Intern</a:t>
            </a:r>
            <a:br/>
            <a:r>
              <a:t>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94560"/>
                </a:solidFill>
                <a:latin typeface="Helvetica"/>
              </a:defRPr>
            </a:pPr>
            <a:r>
              <a:t>THE 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Helvetica"/>
              </a:defRPr>
            </a:pPr>
            <a:r>
              <a:t>THE CORE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30352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P1. Data Fragmentation: Mutual fund metrics split across disparate CSVs and APIs.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P2. Return-Only Evaluation: Core fund analysis neglects costs and risk limits.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P3. Lack of Benchmark Overlay: Active manager outperformance is rarely quantified.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P4. Investor Retention Blind Spot: Irregular SIP payers are not tracked or flagged.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P5. Reporting Delays: Processing and dashboard compilation take days, not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Helvetica"/>
              </a:defRPr>
            </a:pPr>
            <a: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1. Build programmatic ETL pipeline for 10 datasets.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2. Normalise and store data in SQLite Star Schema.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3. Optimize database query times with 6 index keys.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4. Calculate 3yr CAGR, Sharpe, and Sortino risk ratios.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5. Quantify alpha/beta and tracking error vs benchmarks.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6. Model cohort size and SIP transaction gaps.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7. Integrate a risk recommender in Streamlit dashboard.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8. Export findings into visual final presentation decks.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94560"/>
                </a:solidFill>
                <a:latin typeface="Helvetica"/>
              </a:defRPr>
            </a:pPr>
            <a:r>
              <a:t>10 REAL-WORLD DATASETS · 87,543 ROWS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8A8B3"/>
                </a:solidFill>
                <a:latin typeface="Helvetica"/>
              </a:defRPr>
            </a:pPr>
            <a:r>
              <a:t>TOTAL FUNDS</a:t>
            </a:r>
          </a:p>
          <a:p>
            <a:pPr algn="ctr"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40 Schemes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1280160"/>
            <a:ext cx="2560320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8A8B3"/>
                </a:solidFill>
                <a:latin typeface="Helvetica"/>
              </a:defRPr>
            </a:pPr>
            <a:r>
              <a:t>TIME SCALE</a:t>
            </a:r>
          </a:p>
          <a:p>
            <a:pPr algn="ctr"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4.5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280160"/>
            <a:ext cx="2560320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8A8B3"/>
                </a:solidFill>
                <a:latin typeface="Helvetica"/>
              </a:defRPr>
            </a:pPr>
            <a:r>
              <a:t>TRANSACTIONS</a:t>
            </a:r>
          </a:p>
          <a:p>
            <a:pPr algn="ctr"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32,778 Rows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9235440" y="1280160"/>
            <a:ext cx="2560320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8A8B3"/>
                </a:solidFill>
                <a:latin typeface="Helvetica"/>
              </a:defRPr>
            </a:pPr>
            <a:r>
              <a:t>TOTAL DATABASE</a:t>
            </a:r>
          </a:p>
          <a:p>
            <a:pPr algn="ctr"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87,543 Rows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743200"/>
          <a:ext cx="1127455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416552"/>
                <a:gridCol w="2743200"/>
                <a:gridCol w="1828800"/>
              </a:tblGrid>
              <a:tr h="69494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Source Entity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Scale / Coverage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Update Freq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AMFI India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Scheme AUM growth, total folio counts &amp; Master records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90 AMC rows, 48 SIP rows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mfapi.in JSON API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Historical daily price data for 40 schemes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46,000+ price points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Daily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NSE &amp; BSE India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Benchmark closing index levels (Nifty50, Nifty100, etc.)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8,050 index price rows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Daily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Simulated Transactions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Retail transactions (SIP, Lumpsum, Redemption)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32,778 rows (5,000 investors)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94560"/>
                </a:solidFill>
                <a:latin typeface="Helvetica"/>
              </a:defRPr>
            </a:pPr>
            <a:r>
              <a:t>5-LAYER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Helvetica"/>
              </a:defRPr>
            </a:pPr>
            <a:r>
              <a:t>1. INGESTION LAYER:</a:t>
            </a:r>
            <a:br/>
            <a:r>
              <a:t>Extract raw CSV file formats from AMFI and request daily live NAVs from JSON API endpoints.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Helvetica"/>
              </a:defRPr>
            </a:pPr>
            <a:r>
              <a:t>2. PIPELINE ETL:</a:t>
            </a:r>
            <a:br/>
            <a:r>
              <a:t>Parse attributes using Python Pandas. Clean anomalies, forward-fill missing dates, and backfill YoY ratios.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Helvetica"/>
              </a:defRPr>
            </a:pPr>
            <a:r>
              <a:t>3. SCHEMA STORAGE:</a:t>
            </a:r>
            <a:br/>
            <a:r>
              <a:t>Load normalised facts and dimensions into SQLite 3. Build 6 indexes on keys to optimize query execution.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Helvetica"/>
              </a:defRPr>
            </a:pPr>
            <a:r>
              <a:t>4. ANALYTICS CORE:</a:t>
            </a:r>
            <a:br/>
            <a:r>
              <a:t>Calculate Sharpe, OLS alpha, and maximum drawdowns. Model cohort sizes and transaction gaps in notebooks.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Helvetica"/>
              </a:defRPr>
            </a:pPr>
            <a:r>
              <a:t>5. DASHBOARD UI:</a:t>
            </a:r>
            <a:br/>
            <a:r>
              <a:t>Render results in Streamlit. Implement interactive filter settings, scorecards, and custom recommenders.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94560"/>
                </a:solidFill>
                <a:latin typeface="Helvetica"/>
              </a:defRPr>
            </a:pPr>
            <a:r>
              <a:t>EDA HIGHLIGHTS: MARKET GROWTH &amp; FOLIO EXPANSION</a:t>
            </a:r>
          </a:p>
        </p:txBody>
      </p:sp>
      <p:pic>
        <p:nvPicPr>
          <p:cNvPr id="3" name="Picture 2" descr="chart_03_sip_inflow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303520" cy="3657600"/>
          </a:xfrm>
          <a:prstGeom prst="rect">
            <a:avLst/>
          </a:prstGeom>
        </p:spPr>
      </p:pic>
      <p:pic>
        <p:nvPicPr>
          <p:cNvPr id="4" name="Picture 3" descr="chart_07_folio_count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20640"/>
            <a:ext cx="11274552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• Monthly SIP inflows grew 2.69x from Jan 2022 (₹11,517 Cr) to Dec 2025 (₹31,002 Cr) showing massive retail participation.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• Total industry folios doubled from 13.26 to 26.12 crore, driven almost entirely by retail equity folio expansion.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• The 26-35 age group represents the largest investor demographic segment, contributing 41% of all transaction volume.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94560"/>
                </a:solidFill>
                <a:latin typeface="Helvetica"/>
              </a:defRPr>
            </a:pPr>
            <a:r>
              <a:t>RISK-RETURN MATRIX &amp; TOP FUND RANKS</a:t>
            </a:r>
          </a:p>
        </p:txBody>
      </p:sp>
      <p:pic>
        <p:nvPicPr>
          <p:cNvPr id="3" name="Picture 2" descr="chart_08_risk_retur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21792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118872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Helvetica"/>
              </a:defRPr>
            </a:pPr>
            <a:r>
              <a:t>TOP 5 SCORECARD PICKS (3yr)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0" y="1645920"/>
          <a:ext cx="4754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011680"/>
                <a:gridCol w="914400"/>
                <a:gridCol w="640080"/>
                <a:gridCol w="640080"/>
              </a:tblGrid>
              <a:tr h="4267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Scheme Name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SBI Small Cap Direct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Small Cap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0.93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72.75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Kotak Flexicap Regular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Flexi Cap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71.50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Mirae Asset Large Cap Reg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Large Cap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1.06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70.25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Quant Active Direct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Multi Cap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0.89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69.10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SBI Bluechip Regular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Large Cap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Helvetica"/>
                        </a:defRPr>
                      </a:pPr>
                      <a:r>
                        <a:t>68.45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4389120"/>
            <a:ext cx="47548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• Small Cap schemes deliver top return rates (20-23% 3yr CAGR) but sit in the high-volatility quadrant.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• Liquid/Debt schemes sit in the bottom-left with low risk (VaR95 as low as -0.02% daily) and low return (5-7%).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94560"/>
                </a:solidFill>
                <a:latin typeface="Helvetica"/>
              </a:defRPr>
            </a:pPr>
            <a:r>
              <a:t>ADVANCED ANALYTICS &amp; PORTFOLIO TAIL RISK</a:t>
            </a:r>
          </a:p>
        </p:txBody>
      </p:sp>
      <p:pic>
        <p:nvPicPr>
          <p:cNvPr id="3" name="Picture 2" descr="chart_19_va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572000" cy="4114800"/>
          </a:xfrm>
          <a:prstGeom prst="rect">
            <a:avLst/>
          </a:prstGeom>
        </p:spPr>
      </p:pic>
      <p:pic>
        <p:nvPicPr>
          <p:cNvPr id="4" name="Picture 3" descr="chart_22_sector_hh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188720"/>
            <a:ext cx="38404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1645920"/>
            <a:ext cx="24688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Tail Risk &amp; Sector Concentration: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• Small Cap schemes carry 120x more daily tail risk than Liquid schemes (SBI Small Cap Direct daily VaR95 = -2.69%).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• HHI concentration analysis shows all 34 equity portfolios fall below SEBI's 2,500 threshold (Axis Bluechip leads at HHI 2,064).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94560"/>
                </a:solidFill>
                <a:latin typeface="Helvetica"/>
              </a:defRPr>
            </a:pPr>
            <a:r>
              <a:t>STREAMLIT INTERACTIVE ANALYTICS DASHBOARD</a:t>
            </a:r>
          </a:p>
        </p:txBody>
      </p:sp>
      <p:pic>
        <p:nvPicPr>
          <p:cNvPr id="3" name="Picture 2" descr="dashboard_page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303520" cy="3474720"/>
          </a:xfrm>
          <a:prstGeom prst="rect">
            <a:avLst/>
          </a:prstGeom>
        </p:spPr>
      </p:pic>
      <p:pic>
        <p:nvPicPr>
          <p:cNvPr id="4" name="Picture 3" descr="dashboard_page2_fund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937760"/>
            <a:ext cx="11274552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• Real-Time Interactive Web Application built using Streamlit and Plotly.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• 5 Subpages: Industry Overview | Fund Performance | Investor Analytics | SIP Trends | Fund Recommender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• Exposes live sidebar filters: State Selector &amp; Date Range, alongside individual/multi-fund indexed comparisons.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94560"/>
                </a:solidFill>
                <a:latin typeface="Helvetica"/>
              </a:defRPr>
            </a:pPr>
            <a:r>
              <a:t>BEHIND THE SCENES: TECHNICAL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Helvetica"/>
              </a:defRPr>
            </a:pPr>
            <a:r>
              <a:t>MAJOR HURDLES OVERCOME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Helvetica"/>
              </a:defRPr>
            </a:pPr>
            <a:r>
              <a:t>• &lt;b&gt;Resampling NAV Gaps:&lt;/b&gt; Resampling daily records to business-day schedule and ffilling gaps threw multiple index errors.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Helvetica"/>
              </a:defRPr>
            </a:pPr>
            <a:r>
              <a:t>• &lt;b&gt;Sortino Downside Std Dev:&lt;/b&gt; Took 3 tries to get the math right. Dividing by negative days instead of total N was a major trap.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Helvetica"/>
              </a:defRPr>
            </a:pPr>
            <a:r>
              <a:t>• &lt;b&gt;ReportLab Flowables:&lt;/b&gt; Margins were a complete nightmare! Balancing tables and charts to prevent overflow took ages.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Helvetica"/>
              </a:defRPr>
            </a:pPr>
            <a:r>
              <a:t>• &lt;b&gt;Rate Limiting (429):&lt;/b&gt; api.mfapi.in kept locking me out during rapid requests. Added retry loops with exponential backoff.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74552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0">
                <a:solidFill>
                  <a:srgbClr val="A8A8B3"/>
                </a:solidFill>
                <a:latin typeface="Helvetica"/>
              </a:defRPr>
            </a:pPr>
            <a:r>
              <a:t>Note: ReportLab layout is very sensitive. Rebuilt python scripts multiple times to align tables. (Left in as a reminder to refactor later)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94560"/>
                </a:solidFill>
                <a:latin typeface="Helvetica"/>
              </a:defRPr>
            </a:pPr>
            <a:r>
              <a:t>LESSONS LEARNED &amp; RETROSPECTIVE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Helvetica"/>
              </a:defRPr>
            </a:pPr>
            <a:r>
              <a:t>• &lt;b&gt;Database Normalization (3NF):&lt;/b&gt; Denormalizing scheme performance data was a mistake that caused redundancy. Normalizing and using SQL JOINs was a great lesson.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Helvetica"/>
              </a:defRPr>
            </a:pPr>
            <a:r>
              <a:t>• &lt;b&gt;Clean Ingestion:&lt;/b&gt; Separating data retrieval (timeouts/retry limits) from report generation is crucial for stable data pipelines.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Helvetica"/>
              </a:defRPr>
            </a:pPr>
            <a:r>
              <a:t>• &lt;b&gt;What Didn't Work:&lt;/b&gt; Attempted to compile PDF tables dynamically from API data, but it crashed. Separated API fetch and DB loading for stability.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Helvetica"/>
              </a:defRPr>
            </a:pPr>
            <a:r>
              <a:t>• &lt;b&gt;What I'd Do Differently:&lt;/b&gt; If I had more time, I would write proper unit tests for metrics and configure a cloud database (RDS) instead of local SQLite.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94560"/>
                </a:solidFill>
                <a:latin typeface="Helvetica"/>
              </a:defRPr>
            </a:pPr>
            <a:r>
              <a:t>10 KEY PROJECT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120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1. SIP monthly inflows grew 2.69x, peaking at ₹31,002 crore in December 2025.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2. Retail folios doubled (13.26 to 26.12 crore) driven entirely by equity mutual fund participation.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3. Small Cap schemes deliver top returns (23.39% 3yr CAGR) but carry 120x more daily risk than Liquid funds.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4. SBI Mutual Fund leads AMC assets at ₹12.50 lakh crore (19.8% market share of top-10 AMCs).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5. Liquid mutual funds dominated net category inflows in FY25, drawing ₹4,51,275 crore.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6. The 26-35 age group represents the largest investor demographic cohort (41% transaction count).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7. Average monthly SIP sizes are flat across all age cohorts (ranging ₹10,886 to ₹11,575).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8. T30 cities account for 65.9% of total SIP value, while B30 represents 34.1%.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9. Axis Bluechip has the highest sector concentration (HHI: 2,064) but remains below SEBI's 2,500 threshold.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Helvetica"/>
              </a:defRPr>
            </a:pPr>
            <a:r>
              <a:t>10. 97.8% of SIP accounts with 6+ historic transactions are at-risk, exhibiting average gaps exceeding 35 days.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3200" b="1">
                <a:solidFill>
                  <a:srgbClr val="E94560"/>
                </a:solidFill>
                <a:latin typeface="Helvetica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0152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Helvetica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0152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0">
                <a:solidFill>
                  <a:srgbClr val="A8A8B3"/>
                </a:solidFill>
                <a:latin typeface="Helvetica"/>
              </a:defRPr>
            </a:pPr>
            <a:r>
              <a:t>Built with Python · SQLite · Streamlit · Plotly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60152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Helvetica"/>
              </a:defRPr>
            </a:pPr>
            <a:r>
              <a:t>GitHub: github.com/shaikhadibbb/bluestock-mf-capstone</a:t>
            </a:r>
            <a:br/>
            <a:r>
              <a:t>Local Dashboard: streamlit run dashboard/app.py</a:t>
            </a:r>
            <a:br/>
            <a:r>
              <a:t>Data Sources: AMFI India · mfapi.in · NSE &amp; BSE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